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D6EFD">
              <a:alpha val="20000"/>
            </a:srgbClr>
          </a:solidFill>
          <a:ln w="12700">
            <a:solidFill>
              <a:srgbClr val="0D6EF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Algorithm Says No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in Hiring and What Data Professionals Must Know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Disraely Salazar  |  Data Analytics  |  triOS College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519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425196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42519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425196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42519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58384" y="425196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42519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31152" y="425196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42519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— and 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37760" y="105156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HIRING PROMISED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24528" y="2423160"/>
            <a:ext cx="694944" cy="694944"/>
          </a:xfrm>
          <a:prstGeom prst="ellipse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4528" y="24231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Remove human bias from decisions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Assess on objective criteria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Faster, more consistent outcomes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Level the playing field for 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66420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Encoded bias from historical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3225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Proxy discrimination via neutral variables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9809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Instant rejections without explanation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36393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Systematic exclusion of protected groups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84632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 is not the default. It has to be built — deliberately, and tested honestly.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CASES. ONE PATTERN.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AI Hiring Failures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7863840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6916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700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286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26700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3108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rejections.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lawsuit.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1691640"/>
            <a:ext cx="502920" cy="5029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286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6700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HireVue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Intuit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108960"/>
            <a:ext cx="1325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Indigenous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 denied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36592"/>
            <a:ext cx="82296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involves a different tool, vendor, and victim — but the same root failure: biased training data producing discriminatory outcomes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Amazon, 2018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That Started the Conversation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09728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EFF6FF"/>
          </a:solidFill>
          <a:ln w="25400">
            <a:solidFill>
              <a:srgbClr val="0D6EF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09728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2618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395728"/>
            <a:ext cx="2468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built an AI recruiting tool trained on 10 years of its own hiring data — a decade in which the tech industry was overwhelmingly male.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261872"/>
            <a:ext cx="502920" cy="5029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2395728"/>
            <a:ext cx="2468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that successful hires looked a certain way. Resumes with 'women's' — women's chess club, women's college — were penalized. The data encoded the past.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261872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19202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395728"/>
            <a:ext cx="2468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abandoned the tool entirely after engineers could not assure it would stop finding ways to discriminate. Neutrality was never the default.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An AI trained on biased history reproduces that bias — regardless of intent.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Discrimination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facially neutral data produces discriminatory outcomes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749808"/>
          </a:xfrm>
          <a:prstGeom prst="roundRect">
            <a:avLst>
              <a:gd name="adj" fmla="val 17073"/>
            </a:avLst>
          </a:prstGeom>
          <a:solidFill>
            <a:srgbClr val="0D111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39112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3911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2121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2039112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3911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residential segregation mean location strongly correlates with racial demographics.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8229600" cy="749808"/>
          </a:xfrm>
          <a:prstGeom prst="roundRect">
            <a:avLst>
              <a:gd name="adj" fmla="val 17073"/>
            </a:avLst>
          </a:prstGeom>
          <a:solidFill>
            <a:srgbClr val="0D111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80360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03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9626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880360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8803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Background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8529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 of institution correlates with family wealth — not with job performance.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8229600" cy="749808"/>
          </a:xfrm>
          <a:prstGeom prst="roundRect">
            <a:avLst>
              <a:gd name="adj" fmla="val 17073"/>
            </a:avLst>
          </a:prstGeom>
          <a:solidFill>
            <a:srgbClr val="0D1117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21608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216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Gap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803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3721608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7216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6941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interruptions disproportionately affect women due to caregiving responsibilities.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443984"/>
            <a:ext cx="8229600" cy="749808"/>
          </a:xfrm>
          <a:prstGeom prst="roundRect">
            <a:avLst>
              <a:gd name="adj" fmla="val 17073"/>
            </a:avLst>
          </a:prstGeom>
          <a:solidFill>
            <a:srgbClr val="0D1117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562856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D6EFD">
              <a:alpha val="80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628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Pattern / Accent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6451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4562856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0D6EFD">
              <a:alpha val="70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56285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 / Disability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5354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majority-group voices performs worse evaluating minority dialects and deaf speakers.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Mobley v. Workday, 2023–2026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Still in Court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Mobley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09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Morehouse College graduate  |  Finance, IT, Customer Service experience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4389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Filed 100+ job applications through Workday's platform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Rejected every time — often within minutes, sometimes overnight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638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Never offered a single interview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Alleged discrimination based on race, age, and disability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Four additional plaintiffs over 40 joined with identical patterns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1078992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A1A3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2252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68249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824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Lawsuit filed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340864"/>
            <a:ext cx="292608" cy="29260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340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authorizes class notice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299923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3145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ADEA coverage ruling — case survives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365760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phase — ongoing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4224528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422452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vendor treated as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"agent" of the employer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5029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upheld, AI vendors become liable for discriminatory outcomes in tools they built and sold.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HireVue / Intuit — ACLU Complaint, March 2025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5120640" cy="352044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29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 Indigenous, deaf Intuit employee applied for an internal promotion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786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Required to complete an AI video interview via HireVue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Requested human captions as accessibility accommodation — denied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6758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analyzed her facial expressions, word choice, and tone of voice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224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Feedback received: 'practice active listening'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3200400" cy="35204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Failures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2084832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 on deaf speakers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27432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 on non-white speakers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3401568"/>
            <a:ext cx="347472" cy="347472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was an afterthought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405993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36208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consent given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5047488"/>
            <a:ext cx="8412480" cy="237744"/>
          </a:xfrm>
          <a:prstGeom prst="roundRect">
            <a:avLst>
              <a:gd name="adj" fmla="val 2307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47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+ Title VII + Colorado Anti-Discrimination Act violations alleged — EEOC complaint filed March 2025.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Responsibility as a Data Professional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512064" cy="512064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264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the training data. Where did it come from? What historical decisions does it encode? Do any proxy variables correlate with protected characteristics?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8483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3408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disaggregated performance — not just average accuracy. A model 85% accurate overall but 60% accurate for Black applicants is a discriminatory tool.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99232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the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2552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what the model cannot do, not just what it can. Black-box decisions in high-stakes contexts are not just technical limitations — they are failures of accountability.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13632"/>
            <a:ext cx="512064" cy="5120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1696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concerns in writing. Escalate through ethics or compliance channels. Decline to work on systems you believe are causing harm. You are an ethical actor, not just a technical 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IS CATCHING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Landscape for AI Hiring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63677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0D6EFD">
              <a:alpha val="70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367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2020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Local Law 144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404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must conduct annual bias audits of automated employment decision tools and publish results publicly.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163677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367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2020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ADS Regulations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04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automated decision systems explicitly brought under the Fair Employment and Housing Act.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46557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655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849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AI Video Interview 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2336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must disclose AI use in video interviews, obtain consent, and avoid discriminatory outcomes from generative AI.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3465576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4655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3849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Mobley v. Workday Precedent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42336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upheld: AI vendors can be held liable as legal 'agents' for discriminatory outcomes in tools they sold to employers.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Objectivity Is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Choice.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Amazon tool was not neutral. The Workday algorithm was not objective. The HireVue platform did not treat all candidates equally. In each case, the system reflected choices — about what data to train on, what outcome to optimize for, and whose experience to center.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all design decisions. They are made by people. And they carry ethical weight.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005072"/>
            <a:ext cx="7772400" cy="475488"/>
          </a:xfrm>
          <a:prstGeom prst="roundRect">
            <a:avLst>
              <a:gd name="adj" fmla="val 19231"/>
            </a:avLst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050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Disraely Salazar  |  Data Analytics  |  triOS College  |  disrael2021@gmail.com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the Algorithm Says No</dc:title>
  <dc:subject>PptxGenJS Presentation</dc:subject>
  <dc:creator>Disraely Salazar</dc:creator>
  <cp:lastModifiedBy>Disraely Salazar</cp:lastModifiedBy>
  <cp:revision>1</cp:revision>
  <dcterms:created xsi:type="dcterms:W3CDTF">2026-07-08T02:21:07Z</dcterms:created>
  <dcterms:modified xsi:type="dcterms:W3CDTF">2026-07-08T02:21:07Z</dcterms:modified>
</cp:coreProperties>
</file>